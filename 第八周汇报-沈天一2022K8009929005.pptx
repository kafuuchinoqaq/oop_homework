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4" r:id="rId9"/>
    <p:sldId id="265" r:id="rId10"/>
    <p:sldId id="266" r:id="rId11"/>
    <p:sldId id="267" r:id="rId12"/>
    <p:sldId id="269" r:id="rId13"/>
    <p:sldId id="268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8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0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7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82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1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88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1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21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10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56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67959-7023-4562-85E5-7B3929F21D4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A2E66-3204-4AE7-B7A2-52293F88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60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矩形 43"/>
          <p:cNvSpPr/>
          <p:nvPr/>
        </p:nvSpPr>
        <p:spPr>
          <a:xfrm>
            <a:off x="3002844" y="2112675"/>
            <a:ext cx="6186309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面向对象程序设计中期汇报</a:t>
            </a:r>
            <a:endParaRPr lang="en-US" altLang="zh-CN" sz="36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沈</a:t>
            </a:r>
            <a:r>
              <a:rPr lang="zh-CN" altLang="en-US" sz="2800" spc="30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天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一 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2022K8009929005</a:t>
            </a:r>
            <a:endParaRPr lang="en-US" altLang="zh-CN" sz="2800" spc="30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20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341353" y="468223"/>
            <a:ext cx="3509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什么是</a:t>
            </a:r>
            <a:r>
              <a:rPr lang="en-US" altLang="zh-CN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05334" y="1186964"/>
            <a:ext cx="9567043" cy="52629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是一个免费开源的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Web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应用框架，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其设计目的在于实现简单快捷的网站开发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其后端开发的核心在于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model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，即数据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模型对应关系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而前端开发核心在于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view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，即视图</a:t>
            </a:r>
            <a:endParaRPr lang="en-US" altLang="zh-CN" sz="2800" spc="30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52" y="2217652"/>
            <a:ext cx="2904693" cy="289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6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前端：视图和模版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8760" y="1456626"/>
            <a:ext cx="109882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中的视图的概念是「一类具有相同功能和模板的网页的集合」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在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中，网页和其他内容都是从视图派生而来。每一个视图表现为一个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Python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函数。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将会根据用户请求的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URL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来选择使用哪个视图（更准确的说，是根据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URL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中域名之后的部分）。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后端生成好的视图将会在嵌入模版后渲染到前端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28" y="3467287"/>
            <a:ext cx="9300958" cy="28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9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3649658" y="468223"/>
            <a:ext cx="4892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后端：数据</a:t>
            </a:r>
            <a:r>
              <a:rPr lang="en-US" altLang="zh-CN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</a:t>
            </a:r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模型语句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255" y="2833180"/>
            <a:ext cx="7405488" cy="3290595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658760" y="1456626"/>
            <a:ext cx="10988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模型准确且唯一的描述了数据。它包含您储存的数据的重要字段和行为。一般来说，每一个模型都映射一张数据库表。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每个模型都是一个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Python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的类，这些类继承自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django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的内置类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980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表单承担前端用户输入与后端数据处理之间的桥梁作用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23" y="2359346"/>
            <a:ext cx="4698783" cy="3381307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438" y="2773131"/>
            <a:ext cx="5484423" cy="2492028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171575" y="5811866"/>
            <a:ext cx="468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django</a:t>
            </a:r>
            <a:r>
              <a:rPr lang="zh-CN" altLang="en-US" smtClean="0"/>
              <a:t>源码中 表单实现相关代码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363001" y="5390668"/>
            <a:ext cx="273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django</a:t>
            </a:r>
            <a:r>
              <a:rPr lang="zh-CN" altLang="en-US" smtClean="0"/>
              <a:t>官方文档中的介绍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0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45111"/>
            <a:ext cx="10763250" cy="3905250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表单的使用：继承并修改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form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类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78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表单的使用：在视图中实例化表单类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14" y="2042627"/>
            <a:ext cx="5329569" cy="418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0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表单的使用：表单验证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437" y="2097989"/>
            <a:ext cx="9803278" cy="381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表单的使用：表单验证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05" y="2091520"/>
            <a:ext cx="10197533" cy="34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77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表单的改进：动态验证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8760" y="2001712"/>
            <a:ext cx="1098829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📋 需求分析</a:t>
            </a:r>
          </a:p>
          <a:p>
            <a:pPr algn="ctr"/>
            <a:r>
              <a:rPr lang="en-US" altLang="zh-CN" sz="2400" spc="30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  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现有系统限制 静态验证器的局限性：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验证器在字段初始化时静态定义，无法动态调整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无法根据表单中其他字段的值来改变验证规则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复杂的业务逻辑验证只能在表单级别的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clean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方法中处理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缺乏上下文感知能力（用户角色、权限等）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📋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需求实现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条件验证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根据用户选择动态启用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/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禁用特定验证规则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依赖验证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某字段的验证规则依赖于其他字段的值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上下文验证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基于用户角色、权限、环境的动态验证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运行时配置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-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支持从配置文件或数据库加载验证规则</a:t>
            </a:r>
          </a:p>
        </p:txBody>
      </p:sp>
    </p:spTree>
    <p:extLst>
      <p:ext uri="{BB962C8B-B14F-4D97-AF65-F5344CB8AC3E}">
        <p14:creationId xmlns:p14="http://schemas.microsoft.com/office/powerpoint/2010/main" val="411219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表单的改进：动态验证</a:t>
            </a:r>
            <a:endParaRPr lang="en-US" altLang="zh-CN" sz="28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8760" y="2001712"/>
            <a:ext cx="1098829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📋 集成策略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与现有系统的集成点：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扩展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clean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方法，注入动态验证逻辑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利用 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init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方法设置动态验证器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通过混入类模式避免破坏现有继承结构</a:t>
            </a: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保持向后兼容性，不影响现有代码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📋 数据流改进</a:t>
            </a:r>
            <a:endParaRPr lang="en-US" altLang="zh-CN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  <a:p>
            <a:pPr algn="ctr"/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原始流程</a:t>
            </a:r>
            <a:r>
              <a:rPr lang="en-US" altLang="zh-CN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: Form.clean(value) → </a:t>
            </a:r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静态验证器 → 结果</a:t>
            </a:r>
          </a:p>
          <a:p>
            <a:pPr algn="ctr"/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扩展流程</a:t>
            </a:r>
            <a:r>
              <a:rPr lang="en-US" altLang="zh-CN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: Form.clean(value) → </a:t>
            </a:r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条件判断 → 动态选择验证器 → 结果</a:t>
            </a:r>
          </a:p>
          <a:p>
            <a:pPr algn="ctr"/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                                               ↓</a:t>
            </a:r>
          </a:p>
          <a:p>
            <a:pPr algn="ctr"/>
            <a:r>
              <a:rPr lang="zh-CN" altLang="en-US" sz="2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                                               获取表单上下文数据</a:t>
            </a:r>
          </a:p>
        </p:txBody>
      </p:sp>
    </p:spTree>
    <p:extLst>
      <p:ext uri="{BB962C8B-B14F-4D97-AF65-F5344CB8AC3E}">
        <p14:creationId xmlns:p14="http://schemas.microsoft.com/office/powerpoint/2010/main" val="344634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表单的改进：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修改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init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</a:t>
            </a:r>
            <a:endParaRPr lang="zh-CN" altLang="en-US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072" y="2606807"/>
            <a:ext cx="3606656" cy="3728180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658760" y="2001712"/>
            <a:ext cx="109882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Form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类继承自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BaseForm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可以修改其初始化方法来加入动态验证器</a:t>
            </a:r>
            <a:endParaRPr lang="zh-CN" altLang="en-US" sz="20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515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4003120" y="468223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spc="300" smtClean="0">
                <a:solidFill>
                  <a:srgbClr val="03A7C4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前后端交互：表单</a:t>
            </a:r>
            <a:endParaRPr lang="en-US" altLang="zh-CN" sz="3600" spc="300">
              <a:solidFill>
                <a:srgbClr val="03A7C4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8760" y="1456626"/>
            <a:ext cx="10988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表单的改进：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修改</a:t>
            </a:r>
            <a:r>
              <a:rPr lang="en-US" altLang="zh-CN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clean</a:t>
            </a:r>
            <a:r>
              <a:rPr lang="zh-CN" altLang="en-US" sz="28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</a:t>
            </a:r>
            <a:endParaRPr lang="zh-CN" altLang="en-US" sz="24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8760" y="2001712"/>
            <a:ext cx="109882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Form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类继承自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BaseForm 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其默认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clean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方法是不执行任何逻辑</a:t>
            </a:r>
            <a:endParaRPr lang="zh-CN" altLang="en-US" sz="20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95550"/>
            <a:ext cx="7772400" cy="186690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658759" y="4790952"/>
            <a:ext cx="109882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例如，可以将各表单对应的验证规则声明在配置文件中，并在该基类的</a:t>
            </a:r>
            <a:r>
              <a:rPr lang="en-US" altLang="zh-CN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clean</a:t>
            </a:r>
            <a:r>
              <a:rPr lang="zh-CN" altLang="en-US" sz="24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方法中实现运行时解析配置并执行验证</a:t>
            </a:r>
            <a:endParaRPr lang="zh-CN" altLang="en-US" sz="20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168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4128" y="212577"/>
            <a:ext cx="11503743" cy="6414365"/>
            <a:chOff x="344128" y="212577"/>
            <a:chExt cx="11503743" cy="6414365"/>
          </a:xfrm>
        </p:grpSpPr>
        <p:grpSp>
          <p:nvGrpSpPr>
            <p:cNvPr id="5" name="组合 4"/>
            <p:cNvGrpSpPr/>
            <p:nvPr/>
          </p:nvGrpSpPr>
          <p:grpSpPr>
            <a:xfrm>
              <a:off x="658760" y="540000"/>
              <a:ext cx="10874518" cy="5779665"/>
              <a:chOff x="658760" y="540000"/>
              <a:chExt cx="10874518" cy="57796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58800" y="5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658760" y="162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33" name="直接连接符 3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/>
              <p:cNvGrpSpPr/>
              <p:nvPr/>
            </p:nvGrpSpPr>
            <p:grpSpPr>
              <a:xfrm>
                <a:off x="658760" y="270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组合 9"/>
              <p:cNvGrpSpPr/>
              <p:nvPr/>
            </p:nvGrpSpPr>
            <p:grpSpPr>
              <a:xfrm>
                <a:off x="658760" y="378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组合 10"/>
              <p:cNvGrpSpPr/>
              <p:nvPr/>
            </p:nvGrpSpPr>
            <p:grpSpPr>
              <a:xfrm>
                <a:off x="658800" y="486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/>
              <p:cNvGrpSpPr/>
              <p:nvPr/>
            </p:nvGrpSpPr>
            <p:grpSpPr>
              <a:xfrm>
                <a:off x="658800" y="5940000"/>
                <a:ext cx="10874478" cy="379665"/>
                <a:chOff x="2720421" y="4320000"/>
                <a:chExt cx="6751158" cy="379665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2720421" y="432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2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2720421" y="441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5F0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2720421" y="450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9E8F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2720421" y="459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EF5F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2720421" y="4680000"/>
                  <a:ext cx="6751158" cy="19665"/>
                </a:xfrm>
                <a:prstGeom prst="line">
                  <a:avLst/>
                </a:prstGeom>
                <a:ln w="19050">
                  <a:solidFill>
                    <a:srgbClr val="FFF4F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矩形 5"/>
            <p:cNvSpPr/>
            <p:nvPr/>
          </p:nvSpPr>
          <p:spPr>
            <a:xfrm>
              <a:off x="344128" y="212577"/>
              <a:ext cx="11503743" cy="6414365"/>
            </a:xfrm>
            <a:prstGeom prst="rect">
              <a:avLst/>
            </a:prstGeom>
            <a:noFill/>
            <a:ln w="127000">
              <a:solidFill>
                <a:srgbClr val="03A7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658760" y="3033222"/>
            <a:ext cx="109882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spc="300" smtClean="0">
                <a:solidFill>
                  <a:srgbClr val="2076DF"/>
                </a:solidFill>
                <a:latin typeface="汉仪文黑-85W" panose="00020600040101010101" pitchFamily="18" charset="-122"/>
                <a:ea typeface="汉仪文黑-85W" panose="00020600040101010101" pitchFamily="18" charset="-122"/>
              </a:rPr>
              <a:t>汇报结束</a:t>
            </a:r>
            <a:endParaRPr lang="zh-CN" altLang="en-US" sz="3600" spc="300" smtClean="0">
              <a:solidFill>
                <a:srgbClr val="2076DF"/>
              </a:solidFill>
              <a:latin typeface="汉仪文黑-85W" panose="00020600040101010101" pitchFamily="18" charset="-122"/>
              <a:ea typeface="汉仪文黑-85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760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614</Words>
  <Application>Microsoft Office PowerPoint</Application>
  <PresentationFormat>宽屏</PresentationFormat>
  <Paragraphs>69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汉仪文黑-85W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31</cp:revision>
  <dcterms:created xsi:type="dcterms:W3CDTF">2025-11-07T07:06:46Z</dcterms:created>
  <dcterms:modified xsi:type="dcterms:W3CDTF">2025-11-07T08:22:01Z</dcterms:modified>
</cp:coreProperties>
</file>